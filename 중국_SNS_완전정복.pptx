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284" y="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299465" y="299465"/>
            <a:ext cx="41148" cy="41148"/>
          </a:xfrm>
          <a:prstGeom prst="ellipse">
            <a:avLst/>
          </a:prstGeom>
          <a:solidFill>
            <a:srgbClr val="F3D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83514" y="299465"/>
            <a:ext cx="41148" cy="41148"/>
          </a:xfrm>
          <a:prstGeom prst="ellipse">
            <a:avLst/>
          </a:prstGeom>
          <a:solidFill>
            <a:srgbClr val="F3D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67562" y="299465"/>
            <a:ext cx="41148" cy="41148"/>
          </a:xfrm>
          <a:prstGeom prst="ellipse">
            <a:avLst/>
          </a:prstGeom>
          <a:solidFill>
            <a:srgbClr val="F3D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835657" y="299465"/>
            <a:ext cx="41148" cy="41148"/>
          </a:xfrm>
          <a:prstGeom prst="ellipse">
            <a:avLst/>
          </a:prstGeom>
          <a:solidFill>
            <a:srgbClr val="F3D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2219706" y="299465"/>
            <a:ext cx="41148" cy="41148"/>
          </a:xfrm>
          <a:prstGeom prst="ellipse">
            <a:avLst/>
          </a:prstGeom>
          <a:solidFill>
            <a:srgbClr val="F3D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2603754" y="299465"/>
            <a:ext cx="41148" cy="41148"/>
          </a:xfrm>
          <a:prstGeom prst="ellipse">
            <a:avLst/>
          </a:prstGeom>
          <a:solidFill>
            <a:srgbClr val="F3D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299465" y="683514"/>
            <a:ext cx="41148" cy="41148"/>
          </a:xfrm>
          <a:prstGeom prst="ellipse">
            <a:avLst/>
          </a:prstGeom>
          <a:solidFill>
            <a:srgbClr val="F3D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83514" y="683514"/>
            <a:ext cx="41148" cy="41148"/>
          </a:xfrm>
          <a:prstGeom prst="ellipse">
            <a:avLst/>
          </a:prstGeom>
          <a:solidFill>
            <a:srgbClr val="F3D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451610" y="683514"/>
            <a:ext cx="41148" cy="41148"/>
          </a:xfrm>
          <a:prstGeom prst="ellipse">
            <a:avLst/>
          </a:prstGeom>
          <a:solidFill>
            <a:srgbClr val="F3D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835657" y="683514"/>
            <a:ext cx="41148" cy="41148"/>
          </a:xfrm>
          <a:prstGeom prst="ellipse">
            <a:avLst/>
          </a:prstGeom>
          <a:solidFill>
            <a:srgbClr val="F3D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2219706" y="683514"/>
            <a:ext cx="41148" cy="41148"/>
          </a:xfrm>
          <a:prstGeom prst="ellipse">
            <a:avLst/>
          </a:prstGeom>
          <a:solidFill>
            <a:srgbClr val="F3D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299465" y="1067562"/>
            <a:ext cx="41148" cy="41148"/>
          </a:xfrm>
          <a:prstGeom prst="ellipse">
            <a:avLst/>
          </a:prstGeom>
          <a:solidFill>
            <a:srgbClr val="F3D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67562" y="1067562"/>
            <a:ext cx="41148" cy="41148"/>
          </a:xfrm>
          <a:prstGeom prst="ellipse">
            <a:avLst/>
          </a:prstGeom>
          <a:solidFill>
            <a:srgbClr val="F3D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451610" y="1067562"/>
            <a:ext cx="41148" cy="41148"/>
          </a:xfrm>
          <a:prstGeom prst="ellipse">
            <a:avLst/>
          </a:prstGeom>
          <a:solidFill>
            <a:srgbClr val="F3D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835657" y="1067562"/>
            <a:ext cx="41148" cy="41148"/>
          </a:xfrm>
          <a:prstGeom prst="ellipse">
            <a:avLst/>
          </a:prstGeom>
          <a:solidFill>
            <a:srgbClr val="F3D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2603754" y="1067562"/>
            <a:ext cx="41148" cy="41148"/>
          </a:xfrm>
          <a:prstGeom prst="ellipse">
            <a:avLst/>
          </a:prstGeom>
          <a:solidFill>
            <a:srgbClr val="F3D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83514" y="1451610"/>
            <a:ext cx="41148" cy="41148"/>
          </a:xfrm>
          <a:prstGeom prst="ellipse">
            <a:avLst/>
          </a:prstGeom>
          <a:solidFill>
            <a:srgbClr val="F3D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067562" y="1451610"/>
            <a:ext cx="41148" cy="41148"/>
          </a:xfrm>
          <a:prstGeom prst="ellipse">
            <a:avLst/>
          </a:prstGeom>
          <a:solidFill>
            <a:srgbClr val="F3D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451610" y="1451610"/>
            <a:ext cx="41148" cy="41148"/>
          </a:xfrm>
          <a:prstGeom prst="ellipse">
            <a:avLst/>
          </a:prstGeom>
          <a:solidFill>
            <a:srgbClr val="F3D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2219706" y="1451610"/>
            <a:ext cx="41148" cy="41148"/>
          </a:xfrm>
          <a:prstGeom prst="ellipse">
            <a:avLst/>
          </a:prstGeom>
          <a:solidFill>
            <a:srgbClr val="F3D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2603754" y="1451610"/>
            <a:ext cx="41148" cy="41148"/>
          </a:xfrm>
          <a:prstGeom prst="ellipse">
            <a:avLst/>
          </a:prstGeom>
          <a:solidFill>
            <a:srgbClr val="F3D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299465" y="1835657"/>
            <a:ext cx="41148" cy="41148"/>
          </a:xfrm>
          <a:prstGeom prst="ellipse">
            <a:avLst/>
          </a:prstGeom>
          <a:solidFill>
            <a:srgbClr val="F3D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83514" y="1835657"/>
            <a:ext cx="41148" cy="41148"/>
          </a:xfrm>
          <a:prstGeom prst="ellipse">
            <a:avLst/>
          </a:prstGeom>
          <a:solidFill>
            <a:srgbClr val="F3D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067562" y="1835657"/>
            <a:ext cx="41148" cy="41148"/>
          </a:xfrm>
          <a:prstGeom prst="ellipse">
            <a:avLst/>
          </a:prstGeom>
          <a:solidFill>
            <a:srgbClr val="F3D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835657" y="1835657"/>
            <a:ext cx="41148" cy="41148"/>
          </a:xfrm>
          <a:prstGeom prst="ellipse">
            <a:avLst/>
          </a:prstGeom>
          <a:solidFill>
            <a:srgbClr val="F3D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2219706" y="1835657"/>
            <a:ext cx="41148" cy="41148"/>
          </a:xfrm>
          <a:prstGeom prst="ellipse">
            <a:avLst/>
          </a:prstGeom>
          <a:solidFill>
            <a:srgbClr val="F3D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2603754" y="1835657"/>
            <a:ext cx="41148" cy="41148"/>
          </a:xfrm>
          <a:prstGeom prst="ellipse">
            <a:avLst/>
          </a:prstGeom>
          <a:solidFill>
            <a:srgbClr val="F3D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9546793" y="4981194"/>
            <a:ext cx="41148" cy="41148"/>
          </a:xfrm>
          <a:prstGeom prst="ellipse">
            <a:avLst/>
          </a:prstGeom>
          <a:solidFill>
            <a:srgbClr val="F3D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9930841" y="4981194"/>
            <a:ext cx="41148" cy="41148"/>
          </a:xfrm>
          <a:prstGeom prst="ellipse">
            <a:avLst/>
          </a:prstGeom>
          <a:solidFill>
            <a:srgbClr val="F3D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10314889" y="4981194"/>
            <a:ext cx="41148" cy="41148"/>
          </a:xfrm>
          <a:prstGeom prst="ellipse">
            <a:avLst/>
          </a:prstGeom>
          <a:solidFill>
            <a:srgbClr val="F3D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11082985" y="4981194"/>
            <a:ext cx="41148" cy="41148"/>
          </a:xfrm>
          <a:prstGeom prst="ellipse">
            <a:avLst/>
          </a:prstGeom>
          <a:solidFill>
            <a:srgbClr val="F3D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11467033" y="4981194"/>
            <a:ext cx="41148" cy="41148"/>
          </a:xfrm>
          <a:prstGeom prst="ellipse">
            <a:avLst/>
          </a:prstGeom>
          <a:solidFill>
            <a:srgbClr val="F3D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11851081" y="4981194"/>
            <a:ext cx="41148" cy="41148"/>
          </a:xfrm>
          <a:prstGeom prst="ellipse">
            <a:avLst/>
          </a:prstGeom>
          <a:solidFill>
            <a:srgbClr val="F3D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9546793" y="5365242"/>
            <a:ext cx="41148" cy="41148"/>
          </a:xfrm>
          <a:prstGeom prst="ellipse">
            <a:avLst/>
          </a:prstGeom>
          <a:solidFill>
            <a:srgbClr val="F3D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9930841" y="5365242"/>
            <a:ext cx="41148" cy="41148"/>
          </a:xfrm>
          <a:prstGeom prst="ellipse">
            <a:avLst/>
          </a:prstGeom>
          <a:solidFill>
            <a:srgbClr val="F3D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10698937" y="5365242"/>
            <a:ext cx="41148" cy="41148"/>
          </a:xfrm>
          <a:prstGeom prst="ellipse">
            <a:avLst/>
          </a:prstGeom>
          <a:solidFill>
            <a:srgbClr val="F3D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11082985" y="5365242"/>
            <a:ext cx="41148" cy="41148"/>
          </a:xfrm>
          <a:prstGeom prst="ellipse">
            <a:avLst/>
          </a:prstGeom>
          <a:solidFill>
            <a:srgbClr val="F3D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11467033" y="5365242"/>
            <a:ext cx="41148" cy="41148"/>
          </a:xfrm>
          <a:prstGeom prst="ellipse">
            <a:avLst/>
          </a:prstGeom>
          <a:solidFill>
            <a:srgbClr val="F3D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9546793" y="5749290"/>
            <a:ext cx="41148" cy="41148"/>
          </a:xfrm>
          <a:prstGeom prst="ellipse">
            <a:avLst/>
          </a:prstGeom>
          <a:solidFill>
            <a:srgbClr val="F3D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10314889" y="5749290"/>
            <a:ext cx="41148" cy="41148"/>
          </a:xfrm>
          <a:prstGeom prst="ellipse">
            <a:avLst/>
          </a:prstGeom>
          <a:solidFill>
            <a:srgbClr val="F3D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10698937" y="5749290"/>
            <a:ext cx="41148" cy="41148"/>
          </a:xfrm>
          <a:prstGeom prst="ellipse">
            <a:avLst/>
          </a:prstGeom>
          <a:solidFill>
            <a:srgbClr val="F3D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11082985" y="5749290"/>
            <a:ext cx="41148" cy="41148"/>
          </a:xfrm>
          <a:prstGeom prst="ellipse">
            <a:avLst/>
          </a:prstGeom>
          <a:solidFill>
            <a:srgbClr val="F3D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11851081" y="5749290"/>
            <a:ext cx="41148" cy="41148"/>
          </a:xfrm>
          <a:prstGeom prst="ellipse">
            <a:avLst/>
          </a:prstGeom>
          <a:solidFill>
            <a:srgbClr val="F3D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9930841" y="6133338"/>
            <a:ext cx="41148" cy="41148"/>
          </a:xfrm>
          <a:prstGeom prst="ellipse">
            <a:avLst/>
          </a:prstGeom>
          <a:solidFill>
            <a:srgbClr val="F3D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10314889" y="6133338"/>
            <a:ext cx="41148" cy="41148"/>
          </a:xfrm>
          <a:prstGeom prst="ellipse">
            <a:avLst/>
          </a:prstGeom>
          <a:solidFill>
            <a:srgbClr val="F3D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10698937" y="6133338"/>
            <a:ext cx="41148" cy="41148"/>
          </a:xfrm>
          <a:prstGeom prst="ellipse">
            <a:avLst/>
          </a:prstGeom>
          <a:solidFill>
            <a:srgbClr val="F3D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11467033" y="6133338"/>
            <a:ext cx="41148" cy="41148"/>
          </a:xfrm>
          <a:prstGeom prst="ellipse">
            <a:avLst/>
          </a:prstGeom>
          <a:solidFill>
            <a:srgbClr val="F3D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11851081" y="6133338"/>
            <a:ext cx="41148" cy="41148"/>
          </a:xfrm>
          <a:prstGeom prst="ellipse">
            <a:avLst/>
          </a:prstGeom>
          <a:solidFill>
            <a:srgbClr val="F3D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9546793" y="6517386"/>
            <a:ext cx="41148" cy="41148"/>
          </a:xfrm>
          <a:prstGeom prst="ellipse">
            <a:avLst/>
          </a:prstGeom>
          <a:solidFill>
            <a:srgbClr val="F3D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9930841" y="6517386"/>
            <a:ext cx="41148" cy="41148"/>
          </a:xfrm>
          <a:prstGeom prst="ellipse">
            <a:avLst/>
          </a:prstGeom>
          <a:solidFill>
            <a:srgbClr val="F3D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10314889" y="6517386"/>
            <a:ext cx="41148" cy="41148"/>
          </a:xfrm>
          <a:prstGeom prst="ellipse">
            <a:avLst/>
          </a:prstGeom>
          <a:solidFill>
            <a:srgbClr val="F3D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11082985" y="6517386"/>
            <a:ext cx="41148" cy="41148"/>
          </a:xfrm>
          <a:prstGeom prst="ellipse">
            <a:avLst/>
          </a:prstGeom>
          <a:solidFill>
            <a:srgbClr val="F3D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11467033" y="6517386"/>
            <a:ext cx="41148" cy="41148"/>
          </a:xfrm>
          <a:prstGeom prst="ellipse">
            <a:avLst/>
          </a:prstGeom>
          <a:solidFill>
            <a:srgbClr val="F3D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11851081" y="6517386"/>
            <a:ext cx="41148" cy="41148"/>
          </a:xfrm>
          <a:prstGeom prst="ellipse">
            <a:avLst/>
          </a:prstGeom>
          <a:solidFill>
            <a:srgbClr val="F3D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685800" y="548640"/>
            <a:ext cx="10820095" cy="5760720"/>
          </a:xfrm>
          <a:prstGeom prst="roundRect">
            <a:avLst>
              <a:gd name="adj" fmla="val 5500"/>
            </a:avLst>
          </a:prstGeom>
          <a:solidFill>
            <a:srgbClr val="C8102E"/>
          </a:solidFill>
          <a:ln w="41275">
            <a:solidFill>
              <a:srgbClr val="22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ounded Rectangle 57"/>
          <p:cNvSpPr/>
          <p:nvPr/>
        </p:nvSpPr>
        <p:spPr>
          <a:xfrm>
            <a:off x="5181447" y="448056"/>
            <a:ext cx="1828800" cy="201168"/>
          </a:xfrm>
          <a:prstGeom prst="roundRect">
            <a:avLst>
              <a:gd name="adj" fmla="val 50000"/>
            </a:avLst>
          </a:prstGeom>
          <a:solidFill>
            <a:srgbClr val="22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603504" y="1325880"/>
            <a:ext cx="128016" cy="502920"/>
          </a:xfrm>
          <a:prstGeom prst="roundRect">
            <a:avLst>
              <a:gd name="adj" fmla="val 50000"/>
            </a:avLst>
          </a:prstGeom>
          <a:solidFill>
            <a:srgbClr val="22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603504" y="1965960"/>
            <a:ext cx="128016" cy="502920"/>
          </a:xfrm>
          <a:prstGeom prst="roundRect">
            <a:avLst>
              <a:gd name="adj" fmla="val 50000"/>
            </a:avLst>
          </a:prstGeom>
          <a:solidFill>
            <a:srgbClr val="22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1005840" y="804672"/>
            <a:ext cx="54864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700" b="1" i="0">
                <a:solidFill>
                  <a:srgbClr val="F0C9C0"/>
                </a:solidFill>
                <a:latin typeface="A2Z 4 Regular"/>
              </a:rPr>
              <a:t>☰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219895" y="804672"/>
            <a:ext cx="19659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F0C9C0"/>
                </a:solidFill>
                <a:latin typeface="A2Z 4 Regular"/>
              </a:rPr>
              <a:t>📶   🔋   ▦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85800" y="1463040"/>
            <a:ext cx="10820095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350" b="1" i="0">
                <a:solidFill>
                  <a:srgbClr val="F7F7F5"/>
                </a:solidFill>
                <a:latin typeface="A2Z 4 Regular"/>
              </a:rPr>
              <a:t>CHINA SOCIAL MEDIA</a:t>
            </a:r>
          </a:p>
        </p:txBody>
      </p:sp>
      <p:sp>
        <p:nvSpPr>
          <p:cNvPr id="64" name="Rounded Rectangular Callout 63"/>
          <p:cNvSpPr/>
          <p:nvPr/>
        </p:nvSpPr>
        <p:spPr>
          <a:xfrm>
            <a:off x="8427567" y="1353312"/>
            <a:ext cx="731520" cy="512064"/>
          </a:xfrm>
          <a:prstGeom prst="wedgeRoundRectCallout">
            <a:avLst>
              <a:gd name="adj1" fmla="val -32000"/>
              <a:gd name="adj2" fmla="val 90000"/>
              <a:gd name="adj3" fmla="val 28000"/>
            </a:avLst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800">
                <a:solidFill>
                  <a:srgbClr val="221F1F"/>
                </a:solidFill>
              </a:rPr>
              <a:t>👍</a:t>
            </a:r>
          </a:p>
        </p:txBody>
      </p:sp>
      <p:sp>
        <p:nvSpPr>
          <p:cNvPr id="65" name="Rounded Rectangular Callout 64"/>
          <p:cNvSpPr/>
          <p:nvPr/>
        </p:nvSpPr>
        <p:spPr>
          <a:xfrm>
            <a:off x="9067647" y="1554480"/>
            <a:ext cx="502920" cy="365760"/>
          </a:xfrm>
          <a:prstGeom prst="wedgeRoundRectCallout">
            <a:avLst>
              <a:gd name="adj1" fmla="val -32000"/>
              <a:gd name="adj2" fmla="val 90000"/>
              <a:gd name="adj3" fmla="val 28000"/>
            </a:avLst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>
                <a:solidFill>
                  <a:srgbClr val="221F1F"/>
                </a:solidFill>
              </a:rPr>
              <a:t>❤️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24128" y="2103120"/>
            <a:ext cx="10143439" cy="10058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4000" b="0" i="0">
                <a:solidFill>
                  <a:srgbClr val="FFFFFF"/>
                </a:solidFill>
                <a:latin typeface="A2Z 7 Bold"/>
              </a:rPr>
              <a:t>중국 SNS 완전정복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1051560" y="5257800"/>
            <a:ext cx="9631375" cy="7772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1325880" y="5257800"/>
            <a:ext cx="23774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>
                <a:solidFill>
                  <a:srgbClr val="C8102E"/>
                </a:solidFill>
                <a:latin typeface="A2Z 4 Regular"/>
              </a:rPr>
              <a:t>202310318 안서연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840479" y="5454396"/>
            <a:ext cx="18288" cy="384048"/>
          </a:xfrm>
          <a:prstGeom prst="rect">
            <a:avLst/>
          </a:prstGeom>
          <a:solidFill>
            <a:srgbClr val="8A83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4069079" y="5257800"/>
            <a:ext cx="6339535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221F1F"/>
                </a:solidFill>
                <a:latin typeface="A2Z 4 Regular"/>
              </a:rPr>
              <a:t>종류 · 특징 · 문화로 읽는 중국 소셜미디어 지형도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C9A227"/>
                </a:solidFill>
                <a:latin typeface="A2Z 4 Regular"/>
              </a:rPr>
              <a:t>01 ·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96012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0" i="0">
                <a:solidFill>
                  <a:srgbClr val="C8102E"/>
                </a:solidFill>
                <a:latin typeface="A2Z 7 Bold"/>
              </a:rPr>
              <a:t>왜 중국은 SNS가 다를까?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1153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50" b="0" i="0">
                <a:solidFill>
                  <a:srgbClr val="221F1F"/>
                </a:solidFill>
                <a:latin typeface="A2Z 4 Regular"/>
              </a:rPr>
              <a:t>중국에는 만리방화벽(Great Firewall)이 만든 </a:t>
            </a:r>
            <a:r>
              <a:rPr sz="1550" b="0" i="0">
                <a:solidFill>
                  <a:srgbClr val="C8102E"/>
                </a:solidFill>
                <a:latin typeface="A2Z 4 Regular"/>
              </a:rPr>
              <a:t>독자적 소셜미디어</a:t>
            </a:r>
            <a:r>
              <a:rPr sz="1550" b="0" i="0">
                <a:solidFill>
                  <a:srgbClr val="221F1F"/>
                </a:solidFill>
                <a:latin typeface="A2Z 4 Regular"/>
              </a:rPr>
              <a:t>가 있습니다.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6949440" cy="731520"/>
          </a:xfrm>
          <a:prstGeom prst="roundRect">
            <a:avLst>
              <a:gd name="adj" fmla="val 12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68680" y="210312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6E1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faceboo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828" y="2144268"/>
            <a:ext cx="374904" cy="374904"/>
          </a:xfrm>
          <a:prstGeom prst="ellipse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17319" y="1965960"/>
            <a:ext cx="233172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8A8383"/>
                </a:solidFill>
                <a:latin typeface="A2Z 4 Regular"/>
              </a:rPr>
              <a:t>Facebook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4760" y="1965960"/>
            <a:ext cx="548640" cy="7315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C9A227"/>
                </a:solidFill>
                <a:latin typeface="A2Z 4 Regular"/>
              </a:rPr>
              <a:t>→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0" y="210312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6E1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weib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3148" y="2144268"/>
            <a:ext cx="374904" cy="374904"/>
          </a:xfrm>
          <a:prstGeom prst="ellipse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166360" y="1965960"/>
            <a:ext cx="22860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221F1F"/>
                </a:solidFill>
                <a:latin typeface="A2Z 4 Regular"/>
              </a:rPr>
              <a:t>웨이보 (Weibo)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807208"/>
            <a:ext cx="6949440" cy="731520"/>
          </a:xfrm>
          <a:prstGeom prst="roundRect">
            <a:avLst>
              <a:gd name="adj" fmla="val 12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68680" y="2944368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6E1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nstag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828" y="2985515"/>
            <a:ext cx="374904" cy="374904"/>
          </a:xfrm>
          <a:prstGeom prst="ellipse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417319" y="2807208"/>
            <a:ext cx="233172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8A8383"/>
                </a:solidFill>
                <a:latin typeface="A2Z 4 Regular"/>
              </a:rPr>
              <a:t>Instagram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2807208"/>
            <a:ext cx="548640" cy="7315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C9A227"/>
                </a:solidFill>
                <a:latin typeface="A2Z 4 Regular"/>
              </a:rPr>
              <a:t>→</a:t>
            </a:r>
          </a:p>
        </p:txBody>
      </p:sp>
      <p:sp>
        <p:nvSpPr>
          <p:cNvPr id="19" name="Oval 18"/>
          <p:cNvSpPr/>
          <p:nvPr/>
        </p:nvSpPr>
        <p:spPr>
          <a:xfrm>
            <a:off x="4572000" y="2944368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6E1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xiaohongshu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3148" y="2985515"/>
            <a:ext cx="374904" cy="374904"/>
          </a:xfrm>
          <a:prstGeom prst="ellipse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166360" y="2807208"/>
            <a:ext cx="22860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221F1F"/>
                </a:solidFill>
                <a:latin typeface="A2Z 4 Regular"/>
              </a:rPr>
              <a:t>샤오홍슈 (Xiaohongshu)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648456"/>
            <a:ext cx="6949440" cy="731520"/>
          </a:xfrm>
          <a:prstGeom prst="roundRect">
            <a:avLst>
              <a:gd name="adj" fmla="val 12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68680" y="3785616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6E1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youtub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828" y="3826764"/>
            <a:ext cx="374904" cy="374904"/>
          </a:xfrm>
          <a:prstGeom prst="ellipse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417319" y="3648456"/>
            <a:ext cx="233172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8A8383"/>
                </a:solidFill>
                <a:latin typeface="A2Z 4 Regular"/>
              </a:rPr>
              <a:t>YouTube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60" y="3648456"/>
            <a:ext cx="548640" cy="7315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C9A227"/>
                </a:solidFill>
                <a:latin typeface="A2Z 4 Regular"/>
              </a:rPr>
              <a:t>→</a:t>
            </a:r>
          </a:p>
        </p:txBody>
      </p:sp>
      <p:sp>
        <p:nvSpPr>
          <p:cNvPr id="27" name="Oval 26"/>
          <p:cNvSpPr/>
          <p:nvPr/>
        </p:nvSpPr>
        <p:spPr>
          <a:xfrm>
            <a:off x="4572000" y="3785616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6E1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bilibili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3148" y="3826764"/>
            <a:ext cx="374904" cy="374904"/>
          </a:xfrm>
          <a:prstGeom prst="ellipse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166360" y="3648456"/>
            <a:ext cx="22860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221F1F"/>
                </a:solidFill>
                <a:latin typeface="A2Z 4 Regular"/>
              </a:rPr>
              <a:t>빌리빌리 · 더우인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4489704"/>
            <a:ext cx="6949440" cy="731520"/>
          </a:xfrm>
          <a:prstGeom prst="roundRect">
            <a:avLst>
              <a:gd name="adj" fmla="val 12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868680" y="4626864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6E1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Picture 31" descr="x_twitte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9828" y="4668012"/>
            <a:ext cx="374904" cy="374904"/>
          </a:xfrm>
          <a:prstGeom prst="ellipse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417319" y="4489704"/>
            <a:ext cx="233172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8A8383"/>
                </a:solidFill>
                <a:latin typeface="A2Z 4 Regular"/>
              </a:rPr>
              <a:t>Twitter (X)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94760" y="4489704"/>
            <a:ext cx="548640" cy="7315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C9A227"/>
                </a:solidFill>
                <a:latin typeface="A2Z 4 Regular"/>
              </a:rPr>
              <a:t>→</a:t>
            </a:r>
          </a:p>
        </p:txBody>
      </p:sp>
      <p:sp>
        <p:nvSpPr>
          <p:cNvPr id="35" name="Oval 34"/>
          <p:cNvSpPr/>
          <p:nvPr/>
        </p:nvSpPr>
        <p:spPr>
          <a:xfrm>
            <a:off x="4572000" y="4626864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6E1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6" name="Picture 35" descr="weib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3148" y="4668012"/>
            <a:ext cx="374904" cy="374904"/>
          </a:xfrm>
          <a:prstGeom prst="ellipse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5166360" y="4489704"/>
            <a:ext cx="22860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221F1F"/>
                </a:solidFill>
                <a:latin typeface="A2Z 4 Regular"/>
              </a:rPr>
              <a:t>웨이보 (Weibo)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" y="5330952"/>
            <a:ext cx="6949440" cy="731520"/>
          </a:xfrm>
          <a:prstGeom prst="roundRect">
            <a:avLst>
              <a:gd name="adj" fmla="val 12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868680" y="5468112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6E1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0" name="Picture 39" descr="kakaotalk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9828" y="5509260"/>
            <a:ext cx="374904" cy="374904"/>
          </a:xfrm>
          <a:prstGeom prst="ellipse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417319" y="5330952"/>
            <a:ext cx="233172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8A8383"/>
                </a:solidFill>
                <a:latin typeface="A2Z 4 Regular"/>
              </a:rPr>
              <a:t>KakaoTalk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794760" y="5330952"/>
            <a:ext cx="548640" cy="7315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C9A227"/>
                </a:solidFill>
                <a:latin typeface="A2Z 4 Regular"/>
              </a:rPr>
              <a:t>→</a:t>
            </a:r>
          </a:p>
        </p:txBody>
      </p:sp>
      <p:sp>
        <p:nvSpPr>
          <p:cNvPr id="43" name="Oval 42"/>
          <p:cNvSpPr/>
          <p:nvPr/>
        </p:nvSpPr>
        <p:spPr>
          <a:xfrm>
            <a:off x="4572000" y="5468112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6E1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4" name="Picture 43" descr="wecha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13148" y="5509260"/>
            <a:ext cx="374904" cy="374904"/>
          </a:xfrm>
          <a:prstGeom prst="ellipse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5166360" y="5330952"/>
            <a:ext cx="22860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221F1F"/>
                </a:solidFill>
                <a:latin typeface="A2Z 4 Regular"/>
              </a:rPr>
              <a:t>위챗 (WeChat)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818120" y="1965960"/>
            <a:ext cx="3730752" cy="4096512"/>
          </a:xfrm>
          <a:prstGeom prst="roundRect">
            <a:avLst>
              <a:gd name="adj" fmla="val 8000"/>
            </a:avLst>
          </a:prstGeom>
          <a:solidFill>
            <a:srgbClr val="3D0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818120" y="2377440"/>
            <a:ext cx="3730752" cy="8229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4400" b="1" i="0">
                <a:solidFill>
                  <a:srgbClr val="F7F7F5"/>
                </a:solidFill>
                <a:latin typeface="A2Z 4 Regular"/>
              </a:rPr>
              <a:t>10억+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83880" y="3200400"/>
            <a:ext cx="2999232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0" i="0">
                <a:solidFill>
                  <a:srgbClr val="EAE2DD"/>
                </a:solidFill>
                <a:latin typeface="A2Z 4 Regular"/>
              </a:rPr>
              <a:t>중국 모바일 인터넷 이용자 수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818120" y="4206240"/>
            <a:ext cx="3730752" cy="8229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4400" b="1" i="0">
                <a:solidFill>
                  <a:srgbClr val="F7F7F5"/>
                </a:solidFill>
                <a:latin typeface="A2Z 4 Regular"/>
              </a:rPr>
              <a:t>40+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83880" y="5029200"/>
            <a:ext cx="299923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0" i="0">
                <a:solidFill>
                  <a:srgbClr val="EAE2DD"/>
                </a:solidFill>
                <a:latin typeface="A2Z 4 Regular"/>
              </a:rPr>
              <a:t>차단 이후 성장한</a:t>
            </a:r>
          </a:p>
          <a:p>
            <a:pPr algn="ctr"/>
            <a:r>
              <a:rPr sz="1300" b="0" i="0">
                <a:solidFill>
                  <a:srgbClr val="EAE2DD"/>
                </a:solidFill>
                <a:latin typeface="A2Z 4 Regular"/>
              </a:rPr>
              <a:t>자국산 주요 SNS 앱 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C9A227"/>
                </a:solidFill>
                <a:latin typeface="A2Z 4 Regular"/>
              </a:rPr>
              <a:t>02 · PLATFORMS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96012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0" i="0">
                <a:solidFill>
                  <a:srgbClr val="C8102E"/>
                </a:solidFill>
                <a:latin typeface="A2Z 7 Bold"/>
              </a:rPr>
              <a:t>주요 플랫폼 — 5대 SNS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1153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50" b="0" i="0">
                <a:solidFill>
                  <a:srgbClr val="221F1F"/>
                </a:solidFill>
                <a:latin typeface="A2Z 4 Regular"/>
              </a:rPr>
              <a:t>종합 SNS부터 숏폼 · 라이프스타일까지, 중국을 대표하는 </a:t>
            </a:r>
            <a:r>
              <a:rPr sz="1550" b="0" i="0">
                <a:solidFill>
                  <a:srgbClr val="C8102E"/>
                </a:solidFill>
                <a:latin typeface="A2Z 4 Regular"/>
              </a:rPr>
              <a:t>5개 플랫폼</a:t>
            </a:r>
            <a:r>
              <a:rPr sz="1550" b="0" i="0">
                <a:solidFill>
                  <a:srgbClr val="221F1F"/>
                </a:solidFill>
                <a:latin typeface="A2Z 4 Regular"/>
              </a:rPr>
              <a:t>을 소개합니다.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7443" y="2240280"/>
            <a:ext cx="2075688" cy="3063240"/>
          </a:xfrm>
          <a:prstGeom prst="roundRect">
            <a:avLst>
              <a:gd name="adj" fmla="val 9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80947" y="2464308"/>
            <a:ext cx="868680" cy="8686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6E1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wech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128" y="2542489"/>
            <a:ext cx="712317" cy="712317"/>
          </a:xfrm>
          <a:prstGeom prst="ellipse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68883" y="3410712"/>
            <a:ext cx="1892807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350" b="1" i="0">
                <a:solidFill>
                  <a:srgbClr val="221F1F"/>
                </a:solidFill>
                <a:latin typeface="A2Z 4 Regular"/>
              </a:rPr>
              <a:t>위챗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8883" y="3721608"/>
            <a:ext cx="1892807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 b="0" i="0">
                <a:solidFill>
                  <a:srgbClr val="8A8383"/>
                </a:solidFill>
                <a:latin typeface="A2Z 4 Regular"/>
              </a:rPr>
              <a:t>WeChat · </a:t>
            </a:r>
            <a:r>
              <a:rPr sz="900" b="0" i="0">
                <a:solidFill>
                  <a:srgbClr val="8A8383"/>
                </a:solidFill>
                <a:latin typeface="Noto Sans SC Medium"/>
              </a:rPr>
              <a:t>微信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2891" y="4069080"/>
            <a:ext cx="176479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30" b="0" i="0">
                <a:solidFill>
                  <a:srgbClr val="221F1F"/>
                </a:solidFill>
                <a:latin typeface="A2Z 4 Regular"/>
              </a:rPr>
              <a:t>메신저 · 결제 · 미니프로그램의 슈퍼앱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3747" y="4818888"/>
            <a:ext cx="1783080" cy="347472"/>
          </a:xfrm>
          <a:prstGeom prst="roundRect">
            <a:avLst>
              <a:gd name="adj" fmla="val 50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23747" y="4818888"/>
            <a:ext cx="1783080" cy="3474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A2Z 4 Regular"/>
              </a:rPr>
              <a:t>MAU 13억+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17723" y="2240280"/>
            <a:ext cx="2075688" cy="3063240"/>
          </a:xfrm>
          <a:prstGeom prst="roundRect">
            <a:avLst>
              <a:gd name="adj" fmla="val 9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421227" y="2464308"/>
            <a:ext cx="868680" cy="8686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6E1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weib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9408" y="2542489"/>
            <a:ext cx="712317" cy="712317"/>
          </a:xfrm>
          <a:prstGeom prst="ellipse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909163" y="3410712"/>
            <a:ext cx="1892807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350" b="1" i="0">
                <a:solidFill>
                  <a:srgbClr val="221F1F"/>
                </a:solidFill>
                <a:latin typeface="A2Z 4 Regular"/>
              </a:rPr>
              <a:t>웨이보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09163" y="3721608"/>
            <a:ext cx="1892807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 b="0" i="0">
                <a:solidFill>
                  <a:srgbClr val="8A8383"/>
                </a:solidFill>
                <a:latin typeface="A2Z 4 Regular"/>
              </a:rPr>
              <a:t>Weibo · </a:t>
            </a:r>
            <a:r>
              <a:rPr sz="900" b="0" i="0">
                <a:solidFill>
                  <a:srgbClr val="8A8383"/>
                </a:solidFill>
                <a:latin typeface="Noto Sans SC Medium"/>
              </a:rPr>
              <a:t>微博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3171" y="4069080"/>
            <a:ext cx="176479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30" b="0" i="0">
                <a:solidFill>
                  <a:srgbClr val="221F1F"/>
                </a:solidFill>
                <a:latin typeface="Noto Sans SC Medium"/>
              </a:rPr>
              <a:t>热搜</a:t>
            </a:r>
            <a:r>
              <a:rPr sz="1030" b="0" i="0">
                <a:solidFill>
                  <a:srgbClr val="221F1F"/>
                </a:solidFill>
                <a:latin typeface="A2Z 4 Regular"/>
              </a:rPr>
              <a:t> 실시간 이슈로 여론을 움직이는 마이크로블로그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964027" y="4818888"/>
            <a:ext cx="1783080" cy="347472"/>
          </a:xfrm>
          <a:prstGeom prst="roundRect">
            <a:avLst>
              <a:gd name="adj" fmla="val 50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964027" y="4818888"/>
            <a:ext cx="1783080" cy="3474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Noto Sans SC Medium"/>
              </a:rPr>
              <a:t>热搜</a:t>
            </a:r>
            <a:r>
              <a:rPr sz="950" b="1" i="0">
                <a:solidFill>
                  <a:srgbClr val="FFFFFF"/>
                </a:solidFill>
                <a:latin typeface="A2Z 4 Regular"/>
              </a:rPr>
              <a:t> 랭킹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58003" y="2240280"/>
            <a:ext cx="2075688" cy="3063240"/>
          </a:xfrm>
          <a:prstGeom prst="roundRect">
            <a:avLst>
              <a:gd name="adj" fmla="val 9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5661507" y="2464308"/>
            <a:ext cx="868680" cy="8686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6E1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douy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9688" y="2542489"/>
            <a:ext cx="712317" cy="712317"/>
          </a:xfrm>
          <a:prstGeom prst="ellipse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149443" y="3410712"/>
            <a:ext cx="1892807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350" b="1" i="0">
                <a:solidFill>
                  <a:srgbClr val="221F1F"/>
                </a:solidFill>
                <a:latin typeface="A2Z 4 Regular"/>
              </a:rPr>
              <a:t>더우인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49443" y="3721608"/>
            <a:ext cx="1892807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 b="0" i="0">
                <a:solidFill>
                  <a:srgbClr val="8A8383"/>
                </a:solidFill>
                <a:latin typeface="A2Z 4 Regular"/>
              </a:rPr>
              <a:t>Douyin · </a:t>
            </a:r>
            <a:r>
              <a:rPr sz="900" b="0" i="0">
                <a:solidFill>
                  <a:srgbClr val="8A8383"/>
                </a:solidFill>
                <a:latin typeface="Noto Sans SC Medium"/>
              </a:rPr>
              <a:t>抖音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3451" y="4069080"/>
            <a:ext cx="176479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30" b="0" i="0">
                <a:solidFill>
                  <a:srgbClr val="221F1F"/>
                </a:solidFill>
                <a:latin typeface="A2Z 4 Regular"/>
              </a:rPr>
              <a:t>알고리즘 추천 기반 숏폼 · 라이브 커머스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204307" y="4818888"/>
            <a:ext cx="1783080" cy="347472"/>
          </a:xfrm>
          <a:prstGeom prst="roundRect">
            <a:avLst>
              <a:gd name="adj" fmla="val 50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204307" y="4818888"/>
            <a:ext cx="1783080" cy="3474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A2Z 4 Regular"/>
              </a:rPr>
              <a:t>숏폼 · 커머스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298283" y="2240280"/>
            <a:ext cx="2075688" cy="3063240"/>
          </a:xfrm>
          <a:prstGeom prst="roundRect">
            <a:avLst>
              <a:gd name="adj" fmla="val 9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7901787" y="2464308"/>
            <a:ext cx="868680" cy="8686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6E1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Picture 31" descr="xiaohongshu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9968" y="2542489"/>
            <a:ext cx="712317" cy="712317"/>
          </a:xfrm>
          <a:prstGeom prst="ellipse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7389723" y="3410712"/>
            <a:ext cx="1892807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350" b="1" i="0">
                <a:solidFill>
                  <a:srgbClr val="221F1F"/>
                </a:solidFill>
                <a:latin typeface="A2Z 4 Regular"/>
              </a:rPr>
              <a:t>샤오홍슈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89723" y="3721608"/>
            <a:ext cx="1892807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 b="0" i="0">
                <a:solidFill>
                  <a:srgbClr val="8A8383"/>
                </a:solidFill>
                <a:latin typeface="A2Z 4 Regular"/>
              </a:rPr>
              <a:t>Xiaohongshu · </a:t>
            </a:r>
            <a:r>
              <a:rPr sz="900" b="0" i="0">
                <a:solidFill>
                  <a:srgbClr val="8A8383"/>
                </a:solidFill>
                <a:latin typeface="Noto Sans SC Medium"/>
              </a:rPr>
              <a:t>小红书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53731" y="4069080"/>
            <a:ext cx="176479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30" b="0" i="0">
                <a:solidFill>
                  <a:srgbClr val="221F1F"/>
                </a:solidFill>
                <a:latin typeface="A2Z 4 Regular"/>
              </a:rPr>
              <a:t>뷰티 · 라이프스타일 후기 커뮤니티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444587" y="4818888"/>
            <a:ext cx="1783080" cy="347472"/>
          </a:xfrm>
          <a:prstGeom prst="roundRect">
            <a:avLst>
              <a:gd name="adj" fmla="val 50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444587" y="4818888"/>
            <a:ext cx="1783080" cy="3474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A2Z 4 Regular"/>
              </a:rPr>
              <a:t>리뷰 · 커머스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538563" y="2240280"/>
            <a:ext cx="2075688" cy="3063240"/>
          </a:xfrm>
          <a:prstGeom prst="roundRect">
            <a:avLst>
              <a:gd name="adj" fmla="val 9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10142067" y="2464308"/>
            <a:ext cx="868680" cy="8686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6E1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0" name="Picture 39" descr="bilibili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20248" y="2542489"/>
            <a:ext cx="712317" cy="712317"/>
          </a:xfrm>
          <a:prstGeom prst="ellipse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9630003" y="3410712"/>
            <a:ext cx="1892807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350" b="1" i="0">
                <a:solidFill>
                  <a:srgbClr val="221F1F"/>
                </a:solidFill>
                <a:latin typeface="A2Z 4 Regular"/>
              </a:rPr>
              <a:t>빌리빌리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30003" y="3721608"/>
            <a:ext cx="1892807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 b="0" i="0">
                <a:solidFill>
                  <a:srgbClr val="8A8383"/>
                </a:solidFill>
                <a:latin typeface="A2Z 4 Regular"/>
              </a:rPr>
              <a:t>Bilibili · </a:t>
            </a:r>
            <a:r>
              <a:rPr sz="900" b="0" i="0">
                <a:solidFill>
                  <a:srgbClr val="8A8383"/>
                </a:solidFill>
                <a:latin typeface="Noto Sans SC Medium"/>
              </a:rPr>
              <a:t>哔哩哔哩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94011" y="4069080"/>
            <a:ext cx="176479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30" b="0" i="0">
                <a:solidFill>
                  <a:srgbClr val="221F1F"/>
                </a:solidFill>
                <a:latin typeface="A2Z 4 Regular"/>
              </a:rPr>
              <a:t>탄막 문화가 살아있는 서브컬처 동영상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684867" y="4818888"/>
            <a:ext cx="1783080" cy="347472"/>
          </a:xfrm>
          <a:prstGeom prst="roundRect">
            <a:avLst>
              <a:gd name="adj" fmla="val 50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684867" y="4818888"/>
            <a:ext cx="1783080" cy="3474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A2Z 4 Regular"/>
              </a:rPr>
              <a:t>탄막 · 팬덤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C9A227"/>
                </a:solidFill>
                <a:latin typeface="A2Z 4 Regular"/>
              </a:rPr>
              <a:t>03 · CULTURE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96012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0" i="0">
                <a:solidFill>
                  <a:srgbClr val="C8102E"/>
                </a:solidFill>
                <a:latin typeface="A2Z 7 Bold"/>
              </a:rPr>
              <a:t>중국 SNS 문화의 특징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1153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50" b="0" i="0">
                <a:solidFill>
                  <a:srgbClr val="221F1F"/>
                </a:solidFill>
                <a:latin typeface="A2Z 4 Regular"/>
              </a:rPr>
              <a:t>서구 SNS와 단절된 중국은, 오히려 세계에서 가장 </a:t>
            </a:r>
            <a:r>
              <a:rPr sz="1550" b="0" i="0">
                <a:solidFill>
                  <a:srgbClr val="C8102E"/>
                </a:solidFill>
                <a:latin typeface="A2Z 4 Regular"/>
              </a:rPr>
              <a:t>역동적이고 독자적인 SNS 생태계</a:t>
            </a:r>
            <a:r>
              <a:rPr sz="1550" b="0" i="0">
                <a:solidFill>
                  <a:srgbClr val="221F1F"/>
                </a:solidFill>
                <a:latin typeface="A2Z 4 Regular"/>
              </a:rPr>
              <a:t>를 스스로 키워냈습니다.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40280"/>
            <a:ext cx="5394960" cy="1554480"/>
          </a:xfrm>
          <a:prstGeom prst="roundRect">
            <a:avLst>
              <a:gd name="adj" fmla="val 8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37259" y="2628900"/>
            <a:ext cx="777240" cy="77724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7259" y="2628900"/>
            <a:ext cx="777240" cy="7772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600" b="1" i="0">
                <a:solidFill>
                  <a:srgbClr val="F7F7F5"/>
                </a:solidFill>
                <a:latin typeface="Noto Sans SC Medium"/>
              </a:rPr>
              <a:t>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2468880"/>
            <a:ext cx="39319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50" b="1" i="0">
                <a:solidFill>
                  <a:srgbClr val="C8102E"/>
                </a:solidFill>
                <a:latin typeface="A2Z 4 Regular"/>
              </a:rPr>
              <a:t>왕훙(</a:t>
            </a:r>
            <a:r>
              <a:rPr sz="1550" b="1" i="0">
                <a:solidFill>
                  <a:srgbClr val="C8102E"/>
                </a:solidFill>
                <a:latin typeface="Noto Sans SC Medium"/>
              </a:rPr>
              <a:t>网红</a:t>
            </a:r>
            <a:r>
              <a:rPr sz="1550" b="1" i="0">
                <a:solidFill>
                  <a:srgbClr val="C8102E"/>
                </a:solidFill>
                <a:latin typeface="A2Z 4 Regular"/>
              </a:rPr>
              <a:t>) 경제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2898648"/>
            <a:ext cx="3931920" cy="7315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221F1F"/>
                </a:solidFill>
                <a:latin typeface="A2Z 4 Regular"/>
              </a:rPr>
              <a:t>인플루언서가 이끄는 소비 트렌드 · MCN 기획사의 산업화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2240280"/>
            <a:ext cx="5394960" cy="1554480"/>
          </a:xfrm>
          <a:prstGeom prst="roundRect">
            <a:avLst>
              <a:gd name="adj" fmla="val 8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560820" y="2628900"/>
            <a:ext cx="777240" cy="77724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60820" y="2628900"/>
            <a:ext cx="777240" cy="7772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600" b="1" i="0">
                <a:solidFill>
                  <a:srgbClr val="F7F7F5"/>
                </a:solidFill>
                <a:latin typeface="Noto Sans SC Medium"/>
              </a:rPr>
              <a:t>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0" y="2468880"/>
            <a:ext cx="39319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50" b="1" i="0">
                <a:solidFill>
                  <a:srgbClr val="C8102E"/>
                </a:solidFill>
                <a:latin typeface="A2Z 4 Regular"/>
              </a:rPr>
              <a:t>라이브 커머스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0" y="2898648"/>
            <a:ext cx="3931920" cy="7315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221F1F"/>
                </a:solidFill>
                <a:latin typeface="A2Z 4 Regular"/>
              </a:rPr>
              <a:t>실시간 방송을 통한 직접 판매 · 왕훙 매출이 억대 규모로 성장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023360"/>
            <a:ext cx="5394960" cy="1554480"/>
          </a:xfrm>
          <a:prstGeom prst="roundRect">
            <a:avLst>
              <a:gd name="adj" fmla="val 8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37259" y="4411980"/>
            <a:ext cx="777240" cy="77724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37259" y="4411980"/>
            <a:ext cx="777240" cy="7772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600" b="1" i="0">
                <a:solidFill>
                  <a:srgbClr val="F7F7F5"/>
                </a:solidFill>
                <a:latin typeface="Noto Sans SC Medium"/>
              </a:rPr>
              <a:t>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19" y="4251960"/>
            <a:ext cx="39319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50" b="1" i="0">
                <a:solidFill>
                  <a:srgbClr val="C8102E"/>
                </a:solidFill>
                <a:latin typeface="A2Z 4 Regular"/>
              </a:rPr>
              <a:t>콘텐츠 검열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74519" y="4681728"/>
            <a:ext cx="3931920" cy="7315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221F1F"/>
                </a:solidFill>
                <a:latin typeface="A2Z 4 Regular"/>
              </a:rPr>
              <a:t>민감 키워드 필터링 · 정부 규제에 따른 플랫폼 자체 심사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4023360"/>
            <a:ext cx="5394960" cy="1554480"/>
          </a:xfrm>
          <a:prstGeom prst="roundRect">
            <a:avLst>
              <a:gd name="adj" fmla="val 8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560820" y="4411980"/>
            <a:ext cx="777240" cy="77724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60820" y="4411980"/>
            <a:ext cx="777240" cy="7772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600" b="1" i="0">
                <a:solidFill>
                  <a:srgbClr val="F7F7F5"/>
                </a:solidFill>
                <a:latin typeface="Noto Sans SC Medium"/>
              </a:rPr>
              <a:t>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0" y="4251960"/>
            <a:ext cx="39319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50" b="1" i="0">
                <a:solidFill>
                  <a:srgbClr val="C8102E"/>
                </a:solidFill>
                <a:latin typeface="A2Z 4 Regular"/>
              </a:rPr>
              <a:t>밈(</a:t>
            </a:r>
            <a:r>
              <a:rPr sz="1550" b="1" i="0">
                <a:solidFill>
                  <a:srgbClr val="C8102E"/>
                </a:solidFill>
                <a:latin typeface="Noto Sans SC Medium"/>
              </a:rPr>
              <a:t>梗</a:t>
            </a:r>
            <a:r>
              <a:rPr sz="1550" b="1" i="0">
                <a:solidFill>
                  <a:srgbClr val="C8102E"/>
                </a:solidFill>
                <a:latin typeface="A2Z 4 Regular"/>
              </a:rPr>
              <a:t>) 문화의 초고속 확산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0" y="4681728"/>
            <a:ext cx="3931920" cy="7315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221F1F"/>
                </a:solidFill>
                <a:latin typeface="A2Z 4 Regular"/>
              </a:rPr>
              <a:t>유행어 · 신조어가 폐쇄망 안에서 오히려 빠르고 응집력 있게 퍼짐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822960"/>
            <a:ext cx="1060704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400" b="1" i="0">
                <a:solidFill>
                  <a:srgbClr val="F7F7F5"/>
                </a:solidFill>
                <a:latin typeface="A2Z 4 Regular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94560"/>
            <a:ext cx="10607040" cy="146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000" b="0" i="0">
                <a:solidFill>
                  <a:srgbClr val="FFFFFF"/>
                </a:solidFill>
                <a:latin typeface="A2Z 7 Bold"/>
              </a:rPr>
              <a:t>감사합니다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1060704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400" b="0" i="0">
                <a:solidFill>
                  <a:srgbClr val="EAE2DD"/>
                </a:solidFill>
                <a:latin typeface="A2Z 4 Regular"/>
              </a:rPr>
              <a:t>중국사회문화 캡스톤디자인 · 중국 SNS 완전정복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272</Words>
  <Application>Microsoft Office PowerPoint</Application>
  <PresentationFormat>와이드스크린</PresentationFormat>
  <Paragraphs>72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1" baseType="lpstr">
      <vt:lpstr>Noto Sans SC Medium</vt:lpstr>
      <vt:lpstr>A2Z 4 Regular</vt:lpstr>
      <vt:lpstr>A2Z 7 Bold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서연 안</cp:lastModifiedBy>
  <cp:revision>1</cp:revision>
  <dcterms:created xsi:type="dcterms:W3CDTF">2013-01-27T09:14:16Z</dcterms:created>
  <dcterms:modified xsi:type="dcterms:W3CDTF">2026-09-24T09:42:54Z</dcterms:modified>
  <cp:category/>
</cp:coreProperties>
</file>