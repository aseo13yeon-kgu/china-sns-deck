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2026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8295" y="50292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AN SEO YEON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37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>
                <a:solidFill>
                  <a:srgbClr val="7F9BC7"/>
                </a:solidFill>
                <a:latin typeface="A2Z 7 Bold"/>
              </a:rPr>
              <a:t>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4224528"/>
            <a:ext cx="1463040" cy="25603"/>
          </a:xfrm>
          <a:prstGeom prst="rect">
            <a:avLst/>
          </a:prstGeom>
          <a:solidFill>
            <a:srgbClr val="7F9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37373B"/>
                </a:solidFill>
                <a:latin typeface="A2Z 4 Regular"/>
              </a:rPr>
              <a:t>안서연 · An Seo Yeon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7373B"/>
                </a:solidFill>
                <a:latin typeface="A2Z 4 Regular"/>
              </a:rPr>
              <a:t>브랜드와 소비자 사이, 콘텐츠로 결을 만듭니다.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50" b="1">
                <a:solidFill>
                  <a:srgbClr val="7F9BC7"/>
                </a:solidFill>
                <a:latin typeface="A2Z 7 Bold"/>
              </a:rPr>
              <a:t>안녕하세요.</a:t>
            </a:r>
          </a:p>
          <a:p>
            <a:pPr algn="l">
              <a:lnSpc>
                <a:spcPct val="115000"/>
              </a:lnSpc>
            </a:pPr>
            <a:r>
              <a:rPr sz="1850" b="1">
                <a:solidFill>
                  <a:srgbClr val="7F9BC7"/>
                </a:solidFill>
                <a:latin typeface="A2Z 7 Bold"/>
              </a:rPr>
              <a:t>단어 하나로 브랜드의 결을</a:t>
            </a:r>
          </a:p>
          <a:p>
            <a:pPr algn="l">
              <a:lnSpc>
                <a:spcPct val="115000"/>
              </a:lnSpc>
            </a:pPr>
            <a:r>
              <a:rPr sz="1850" b="1">
                <a:solidFill>
                  <a:srgbClr val="7F9BC7"/>
                </a:solidFill>
                <a:latin typeface="A2Z 7 Bold"/>
              </a:rPr>
              <a:t>완성하는 안서연입니다.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2121408"/>
            <a:ext cx="1940814" cy="2569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188595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92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F9BC7"/>
                </a:solidFill>
                <a:latin typeface="A2Z 7 Bold"/>
              </a:rPr>
              <a:t>안서연 / An Seo Yeon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852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20XX. XX.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509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경기도 OO시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Tel. 010-OOOO-OOOO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Email. OOO@email.com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02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91440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7373B"/>
                </a:solidFill>
                <a:latin typeface="A2Z 4 Regular"/>
              </a:rPr>
              <a:t>2023. 03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914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OO대학교 중어중문전공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OO대학교 경영학전공 복수전공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중어중문전공 제36대 OO학생회 홍보부원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2024. 03 ~ 2024.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00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OO기관 제11차 한일중 대학생 외교캠프 한국팀원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76956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2024. 07 ~ 2024.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92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OO기업 헤이영 서포터즈 3기 프로젝트 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3931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2025. 08 ~ 2025.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547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OO대학교 마케팅학회 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0166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2026. 03 ~ 2027.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171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OO 펀딩 프로젝트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64024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2025. 12 ~ 2026.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94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OO기업 그린핑거 AI CREW 1기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263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2026. 08 ~ 2026.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641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전통시장 온라인 마케팅 프로젝트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888736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2025. 06 ~ 2026. 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29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AWARDS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914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[OO기관] 제11차 한일중 대학생 외교캠프 우수발표상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16128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2024. 07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47675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7373B"/>
                </a:solidFill>
                <a:latin typeface="A2Z 4 Regular"/>
              </a:rPr>
              <a:t>[OO기업] 헤이영 서포터즈 3기 우수 서포터즈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72364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7373B"/>
                </a:solidFill>
                <a:latin typeface="A2Z 4 Regular"/>
              </a:rPr>
              <a:t>2025. 12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317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CERTIFICATION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7432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7373B"/>
                </a:solidFill>
                <a:latin typeface="A2Z 4 Regular"/>
              </a:rPr>
              <a:t>2024. 08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27432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컴퓨터활용능력 2급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07238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7373B"/>
                </a:solidFill>
                <a:latin typeface="A2Z 4 Regular"/>
              </a:rPr>
              <a:t>2025. 10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30723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GTQ 1급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015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7373B"/>
                </a:solidFill>
                <a:latin typeface="A2Z 4 Regular"/>
              </a:rPr>
              <a:t>2025. 11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340156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GTQi 1급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7307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7373B"/>
                </a:solidFill>
                <a:latin typeface="A2Z 4 Regular"/>
              </a:rPr>
              <a:t>2026. 05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19" y="373075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HSK 6급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5993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7373B"/>
                </a:solidFill>
                <a:latin typeface="A2Z 4 Regular"/>
              </a:rPr>
              <a:t>2026. 05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19" y="405993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7373B"/>
                </a:solidFill>
                <a:latin typeface="A2Z 4 Regular"/>
              </a:rPr>
              <a:t>데이터분석준전문가(ADsP)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7091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SKILL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51206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5184648"/>
            <a:ext cx="329184" cy="329184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8887967" y="51206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5184648"/>
            <a:ext cx="329184" cy="32918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9454895" y="51206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ig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8903" y="5190591"/>
            <a:ext cx="329184" cy="317296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0021823" y="51206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exc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0440" y="5184648"/>
            <a:ext cx="319966" cy="329184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321040" y="5687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8" y="5755976"/>
            <a:ext cx="329184" cy="32038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887967" y="5687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no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6661" y="5751576"/>
            <a:ext cx="319812" cy="329184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9454895" y="5687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hatgp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8903" y="5751576"/>
            <a:ext cx="329184" cy="329184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021823" y="56875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gemin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5831" y="5751576"/>
            <a:ext cx="329184" cy="32918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85855" y="6400800"/>
            <a:ext cx="685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37373B"/>
                </a:solidFill>
                <a:latin typeface="A2Z 4 Regular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0233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7F9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02336"/>
            <a:ext cx="187451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2Z 4 Regular"/>
              </a:rPr>
              <a:t>MAIN PROJECT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373B"/>
                </a:solidFill>
                <a:latin typeface="A2Z 4 Regular"/>
              </a:rPr>
              <a:t>개인 프로젝트 · 웹사이트 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57607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7F9BC7"/>
                </a:solidFill>
                <a:latin typeface="A2Z 7 Bold"/>
              </a:rPr>
              <a:t>중국어 학습 웹사이트 — </a:t>
            </a:r>
            <a:r>
              <a:rPr sz="2300" b="1">
                <a:solidFill>
                  <a:srgbClr val="7F9BC7"/>
                </a:solidFill>
                <a:latin typeface="Malgun Gothic"/>
              </a:rPr>
              <a:t>生词本</a:t>
            </a:r>
            <a:r>
              <a:rPr sz="2300" b="1">
                <a:solidFill>
                  <a:srgbClr val="7F9BC7"/>
                </a:solidFill>
                <a:latin typeface="A2Z 7 Bold"/>
              </a:rPr>
              <a:t> &amp; </a:t>
            </a:r>
            <a:r>
              <a:rPr sz="2300" b="1">
                <a:solidFill>
                  <a:srgbClr val="7F9BC7"/>
                </a:solidFill>
                <a:latin typeface="Malgun Gothic"/>
              </a:rPr>
              <a:t>汉字卡片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4650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373B"/>
                </a:solidFill>
                <a:latin typeface="A2Z 4 Regular"/>
              </a:rPr>
              <a:t>2026. 09  ·  중국사회문화 캡스톤디자인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39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3703"/>
            <a:ext cx="329184" cy="329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252728" y="2139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666" y="2203703"/>
            <a:ext cx="233322" cy="3291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19656" y="2139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" y="2203703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2697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배경 및 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5394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HSK 어휘와 한자를 반복해서 암기할 수 있는 도구가 마땅치 않아, 중국어 전공자로서 직접 사용할 학습 웹사이트를 기획·제작함. 실제 학습 과정에 필요한 기능을 스스로 설계해보는 것을 목표로 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14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실행방안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00">
                <a:solidFill>
                  <a:srgbClr val="7F9BC7"/>
                </a:solidFill>
                <a:latin typeface="A2Z 4 Regular"/>
              </a:rPr>
              <a:t>•  </a:t>
            </a:r>
            <a:r>
              <a:rPr sz="1100" b="0">
                <a:solidFill>
                  <a:srgbClr val="37373B"/>
                </a:solidFill>
                <a:latin typeface="Malgun Gothic"/>
              </a:rPr>
              <a:t>生词本</a:t>
            </a:r>
            <a:r>
              <a:rPr sz="1100" b="0">
                <a:solidFill>
                  <a:srgbClr val="37373B"/>
                </a:solidFill>
                <a:latin typeface="A2Z 4 Regular"/>
              </a:rPr>
              <a:t>(단어장): 한자·병음·뜻 등록과 검색, 암기 체크, 유의어 2지선다 퀴즈, 발음이 비슷하거나 성조만 다른 단어를 자동 감지해 보여주는 기능을 구현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00">
                <a:solidFill>
                  <a:srgbClr val="7F9BC7"/>
                </a:solidFill>
                <a:latin typeface="A2Z 4 Regular"/>
              </a:rPr>
              <a:t>•  </a:t>
            </a:r>
            <a:r>
              <a:rPr sz="1100" b="0">
                <a:solidFill>
                  <a:srgbClr val="37373B"/>
                </a:solidFill>
                <a:latin typeface="Malgun Gothic"/>
              </a:rPr>
              <a:t>汉字卡片</a:t>
            </a:r>
            <a:r>
              <a:rPr sz="1100" b="0">
                <a:solidFill>
                  <a:srgbClr val="37373B"/>
                </a:solidFill>
                <a:latin typeface="A2Z 4 Regular"/>
              </a:rPr>
              <a:t>(플래시카드): HSK 1~2급 단어를 카드로 넘기며 아는/모르는 단어를 표시하고, 즐겨찾기·순서 섞기로 반복 학습이 가능하도록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618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HTML/CSS/JavaScript로 학습 도구 2종을 직접 구현, 개인 HSK 학습에 실제 활용 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914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▼ </a:t>
            </a:r>
            <a:r>
              <a:rPr sz="1150" b="0">
                <a:solidFill>
                  <a:srgbClr val="37373B"/>
                </a:solidFill>
                <a:latin typeface="Malgun Gothic"/>
              </a:rPr>
              <a:t>生词本</a:t>
            </a:r>
            <a:r>
              <a:rPr sz="1150" b="0">
                <a:solidFill>
                  <a:srgbClr val="37373B"/>
                </a:solidFill>
                <a:latin typeface="A2Z 4 Regular"/>
              </a:rPr>
              <a:t> · </a:t>
            </a:r>
            <a:r>
              <a:rPr sz="1150" b="0">
                <a:solidFill>
                  <a:srgbClr val="37373B"/>
                </a:solidFill>
                <a:latin typeface="Malgun Gothic"/>
              </a:rPr>
              <a:t>汉字卡片</a:t>
            </a:r>
            <a:r>
              <a:rPr sz="1150" b="0">
                <a:solidFill>
                  <a:srgbClr val="37373B"/>
                </a:solidFill>
                <a:latin typeface="A2Z 4 Regular"/>
              </a:rPr>
              <a:t> (웹 브라우저 화면)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280160"/>
            <a:ext cx="2514600" cy="4919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roject1_vocab.png"/>
          <p:cNvPicPr>
            <a:picLocks noChangeAspect="1"/>
          </p:cNvPicPr>
          <p:nvPr/>
        </p:nvPicPr>
        <p:blipFill>
          <a:blip r:embed="rId5"/>
          <a:srcRect l="2820" r="2820"/>
          <a:stretch>
            <a:fillRect/>
          </a:stretch>
        </p:blipFill>
        <p:spPr>
          <a:xfrm>
            <a:off x="6537960" y="1417319"/>
            <a:ext cx="2240280" cy="464515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144000" y="1280160"/>
            <a:ext cx="2514600" cy="4919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roject1_flashcard.png"/>
          <p:cNvPicPr>
            <a:picLocks noChangeAspect="1"/>
          </p:cNvPicPr>
          <p:nvPr/>
        </p:nvPicPr>
        <p:blipFill>
          <a:blip r:embed="rId6"/>
          <a:srcRect l="14514" r="14514"/>
          <a:stretch>
            <a:fillRect/>
          </a:stretch>
        </p:blipFill>
        <p:spPr>
          <a:xfrm>
            <a:off x="9281160" y="1417319"/>
            <a:ext cx="2240280" cy="46451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85855" y="6400800"/>
            <a:ext cx="685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37373B"/>
                </a:solidFill>
                <a:latin typeface="A2Z 4 Regular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402336"/>
            <a:ext cx="1874519" cy="329184"/>
          </a:xfrm>
          <a:prstGeom prst="roundRect">
            <a:avLst>
              <a:gd name="adj" fmla="val 50000"/>
            </a:avLst>
          </a:prstGeom>
          <a:solidFill>
            <a:srgbClr val="7F9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02336"/>
            <a:ext cx="187451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2Z 4 Regular"/>
              </a:rPr>
              <a:t>MAIN PROJECT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373B"/>
                </a:solidFill>
                <a:latin typeface="A2Z 4 Regular"/>
              </a:rPr>
              <a:t>팀 발표 프로젝트 · 프레젠테이션 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57607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7F9BC7"/>
                </a:solidFill>
                <a:latin typeface="A2Z 7 Bold"/>
              </a:rPr>
              <a:t>중국 SNS 완전정복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4650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373B"/>
                </a:solidFill>
                <a:latin typeface="A2Z 4 Regular"/>
              </a:rPr>
              <a:t>2026. 09  ·  중국사회문화 캡스톤디자인 4주차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39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8104"/>
            <a:ext cx="329184" cy="3203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252728" y="2139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2203703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26974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배경 및 목적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5394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만리방화벽(Great Firewall) 이후 독자적으로 발전한 중국 SNS 생태계를, 서구 SNS와의 비교와 문화적 맥락을 통해 쉽게 전달하기 위해 발표자료를 제작함.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947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실행방안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5394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>
                <a:solidFill>
                  <a:srgbClr val="7F9BC7"/>
                </a:solidFill>
                <a:latin typeface="A2Z 4 Regular"/>
              </a:rPr>
              <a:t>•  </a:t>
            </a:r>
            <a:r>
              <a:rPr sz="1080" b="0">
                <a:solidFill>
                  <a:srgbClr val="37373B"/>
                </a:solidFill>
                <a:latin typeface="A2Z 4 Regular"/>
              </a:rPr>
              <a:t>서구 SNS와 중국 대체 플랫폼을 나란히 비교해 생태계 구조를 한눈에 전달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>
                <a:solidFill>
                  <a:srgbClr val="7F9BC7"/>
                </a:solidFill>
                <a:latin typeface="A2Z 4 Regular"/>
              </a:rPr>
              <a:t>•  </a:t>
            </a:r>
            <a:r>
              <a:rPr sz="1080" b="0">
                <a:solidFill>
                  <a:srgbClr val="37373B"/>
                </a:solidFill>
                <a:latin typeface="A2Z 4 Regular"/>
              </a:rPr>
              <a:t>위챗·웨이보·더우인·샤오홍슈·빌리빌리 5대 플랫폼을 카드형으로 정리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>
                <a:solidFill>
                  <a:srgbClr val="7F9BC7"/>
                </a:solidFill>
                <a:latin typeface="A2Z 4 Regular"/>
              </a:rPr>
              <a:t>•  </a:t>
            </a:r>
            <a:r>
              <a:rPr sz="1080" b="0">
                <a:solidFill>
                  <a:srgbClr val="37373B"/>
                </a:solidFill>
                <a:latin typeface="A2Z 4 Regular"/>
              </a:rPr>
              <a:t>왕훙 경제·라이브커머스·콘텐츠 검열·밈 문화, 4가지 키워드로 마무리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>
                <a:solidFill>
                  <a:srgbClr val="7F9BC7"/>
                </a:solidFill>
                <a:latin typeface="A2Z 4 Regular"/>
              </a:rPr>
              <a:t>•  </a:t>
            </a:r>
            <a:r>
              <a:rPr sz="1080" b="0">
                <a:solidFill>
                  <a:srgbClr val="37373B"/>
                </a:solidFill>
                <a:latin typeface="A2Z 4 Regular"/>
              </a:rPr>
              <a:t>python-pptx로 슬라이드를 코드 기반 제작해 디자인 재현성과 수정 효율을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9BC7"/>
                </a:solidFill>
                <a:latin typeface="A2Z 7 Bold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618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5페이지 발표자료 완성, 중국사회문화 캡스톤디자인 수업 발표 진행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914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▼ 중국 SNS 완전정복 (발표자료 일부)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298448"/>
            <a:ext cx="4343400" cy="2443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ject2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018" y="1389888"/>
            <a:ext cx="4018483" cy="226039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766560" y="4016044"/>
            <a:ext cx="4343400" cy="24432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1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roject2_platfor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018" y="4107484"/>
            <a:ext cx="4018483" cy="22603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185855" y="6400800"/>
            <a:ext cx="685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37373B"/>
                </a:solidFill>
                <a:latin typeface="A2Z 4 Regular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7F9BC7"/>
                </a:solidFill>
                <a:latin typeface="A2Z 7 Bold"/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3794760"/>
            <a:ext cx="1463040" cy="25603"/>
          </a:xfrm>
          <a:prstGeom prst="rect">
            <a:avLst/>
          </a:prstGeom>
          <a:solidFill>
            <a:srgbClr val="7F9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06908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0">
                <a:solidFill>
                  <a:srgbClr val="37373B"/>
                </a:solidFill>
                <a:latin typeface="A2Z 4 Regular"/>
              </a:rPr>
              <a:t>브랜드와 소비자 사이, 다음 이야기를 계속 만들어가겠습니다.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17720"/>
            <a:ext cx="1219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37373B"/>
                </a:solidFill>
                <a:latin typeface="A2Z 4 Regular"/>
              </a:rPr>
              <a:t>안서연 · OOO@email.com · 010-OOOO-OOOO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685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37373B"/>
                </a:solidFill>
                <a:latin typeface="A2Z 4 Regular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